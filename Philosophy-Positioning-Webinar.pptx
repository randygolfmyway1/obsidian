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RANDY SCHWANTZ  ·  COMMERCIAL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Find Your Philosophy.
Tell the Positioning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96A3"/>
                </a:solidFill>
                <a:latin typeface="Georgia"/>
              </a:rPr>
              <a:t>From “better price / better coverage” to a core truth
that positions you against the incumbent.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TONIGHT’S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Georgia"/>
              </a:rPr>
              <a:t>Commercial insurance has been around for hundreds of years.
Most of the industry was indoctrinated to sell better price and better coverage.
Tonight we dig out your philosophy — then build the story that exposes your prospect’s false belief — so you can position against the incumbent in a way they can’t match with one phone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OPENING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Georgia"/>
              </a:rPr>
              <a:t>What the industry taught you vs. what actually happens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1206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120640" cy="3840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INDOCTRINATION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C"/>
                </a:solidFill>
                <a:latin typeface="Georgia"/>
              </a:rPr>
              <a:t>Price + coverage +
“great service” = wins.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6A3"/>
                </a:solidFill>
                <a:latin typeface="Arial"/>
              </a:rPr>
              <a:t>The seller’s false belief.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“You’re not losing because your proposals are bad. You’re losing because you’re competing on variables the incumbent controls.”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THE OLD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eorgia"/>
              </a:rPr>
              <a:t>“In the old game the philosophy is better price, better coverage, better service will get you the deal… and they get rolled a lot.”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— LIES ABOUT DIFFERENTIATION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WHAT WE’RE DOING TONIGHT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Georgia"/>
              </a:rPr>
              <a:t>Five moves. One positioning 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0116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B3C"/>
                </a:solidFill>
                <a:latin typeface="Georgia"/>
              </a:rPr>
              <a:t>Philosophy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2194560"/>
            <a:ext cx="2011680" cy="2926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False belief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194560"/>
            <a:ext cx="20116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B3C"/>
                </a:solidFill>
                <a:latin typeface="Georgia"/>
              </a:rPr>
              <a:t>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194560"/>
            <a:ext cx="2011680" cy="2926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Transition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194560"/>
            <a:ext cx="20116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B3C"/>
                </a:solidFill>
                <a:latin typeface="Georgia"/>
              </a:rPr>
              <a:t>Positioning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PHILOSOPHY ≠ USP SLOGAN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“What’s your unique selling proposition?”
It’s a conceptual question. You’ll get a conceptual answer — the exact same thing your competition would say.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10789920" cy="2011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Georgia"/>
              </a:rPr>
              <a:t>Philosophy = the truth you accept that forces a process.
If you don’t accept a hard truth, you keep improvising quotes.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THREE MODELS — THEN WRITE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C"/>
                </a:solidFill>
                <a:latin typeface="Georgia"/>
              </a:rPr>
              <a:t>Randy’s philosophies (sparks, not scripts)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7899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37160" cy="141732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GRIT / Hiring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Don’t ask if they’re capable — make them do things so evidence shows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6A3"/>
                </a:solidFill>
                <a:latin typeface="Arial"/>
              </a:rPr>
              <a:t>Forces: Evidence-based interview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107899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137160" cy="141732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The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Somebody has to lose for you to win. Zero-sum. Incumbent must lose.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6A3"/>
                </a:solidFill>
                <a:latin typeface="Arial"/>
              </a:rPr>
              <a:t>Forces: Process that shows the income isn’t doing the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107899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663440"/>
            <a:ext cx="137160" cy="141732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Sales Meetings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Most meetings are a spreadsheet liars club — activity theater.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6A3"/>
                </a:solidFill>
                <a:latin typeface="Arial"/>
              </a:rPr>
              <a:t>Forces: Hot seat — Define → Defend → Develop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WHY PHILOSOPHY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Experience → Beliefs → Actions →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8A96A3"/>
                </a:solidFill>
                <a:latin typeface="Georgia"/>
              </a:rPr>
              <a:t>Your philosophy is the belief you want the prospect to leave with — after a story that challenges the belief they’re sitting on right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CORE EXERCISE · 12–15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2B3C"/>
                </a:solidFill>
                <a:latin typeface="Georgia"/>
              </a:rPr>
              <a:t>The 5-Box Positioning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C3E50"/>
                </a:solidFill>
                <a:latin typeface="Georgia"/>
              </a:rPr>
              <a:t>Fill the worksheet one box at a time.
Banned unless you can name a deliverable and a date:
“better service” · “we care” · “local” · “great carriers”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BOX 1 · YOUR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What truth do you accept that most agents refuse to accept?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789920" cy="1828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Georgia"/>
              </a:rPr>
              <a:t>We believe X is true,
therefore we refuse to do Y,
and we always do 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3"/>
                </a:solidFill>
                <a:latin typeface="Arial"/>
              </a:rPr>
              <a:t>Models: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3"/>
                </a:solidFill>
                <a:latin typeface="Arial"/>
              </a:rPr>
              <a:t>• Somebody has to lose for you to win — so we build the call around the income that’s not doing the job.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3"/>
                </a:solidFill>
                <a:latin typeface="Arial"/>
              </a:rPr>
              <a:t>• We don’t ask if they’re capable — we make them do things so we know.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8A96A3"/>
                </a:solidFill>
                <a:latin typeface="Arial"/>
              </a:rPr>
              <a:t>• A spreadsheet-only sales meeting doesn’t make anyone better — so we put producers on the hot seat.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BOX 2 · PROSPECT’S FALSE BELIEF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Georgia"/>
              </a:rPr>
              <a:t>What do they believe that keeps a mediocre incumbent in the chair?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B3C"/>
                </a:solidFill>
                <a:latin typeface="Georgia"/>
              </a:rPr>
              <a:t>“My guy has us covered; renewal is just paperwork.”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B3C"/>
                </a:solidFill>
                <a:latin typeface="Georgia"/>
              </a:rPr>
              <a:t>“If price and coverage look similar, staying is safer.”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B3C"/>
                </a:solidFill>
                <a:latin typeface="Georgia"/>
              </a:rPr>
              <a:t>“Agents are interchangeable; the carrier is what matters.”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69080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B3C"/>
                </a:solidFill>
                <a:latin typeface="Georgia"/>
              </a:rPr>
              <a:t>“I’ll know it’s time to switch when something blows up.”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B3C"/>
                </a:solidFill>
                <a:latin typeface="Georgia"/>
              </a:rPr>
              <a:t>“Proactive service is just marketing language.”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WHY THEIR FALSE BELIEF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Georgia"/>
              </a:rPr>
              <a:t>“We provide excellent service… We really care…”
The prospect had heard those exact words from three agents this month.
They’re meaningless — because they’re unverifiable.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— WHY YOU LOSE 70% OF DEALS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BOX 3 · THE STORY (60–90 SECONDS)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Georgia"/>
              </a:rPr>
              <a:t>Not a pitch. A story that makes the false belief 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640080" cy="6858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691640"/>
            <a:ext cx="10012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856232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B3C"/>
                </a:solidFill>
                <a:latin typeface="Georgia"/>
              </a:rPr>
              <a:t>Who / situation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64008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560320"/>
            <a:ext cx="10012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724912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B3C"/>
                </a:solidFill>
                <a:latin typeface="Georgia"/>
              </a:rPr>
              <a:t>What they believed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29000"/>
            <a:ext cx="640080" cy="6858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429000"/>
            <a:ext cx="10012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593592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B3C"/>
                </a:solidFill>
                <a:latin typeface="Georgia"/>
              </a:rPr>
              <a:t>What they couldn’t see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80"/>
            <a:ext cx="64008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4297680"/>
            <a:ext cx="10012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462272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B3C"/>
                </a:solidFill>
                <a:latin typeface="Georgia"/>
              </a:rPr>
              <a:t>What broke (or almost)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66360"/>
            <a:ext cx="640080" cy="6858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03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5166360"/>
            <a:ext cx="10012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5330952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B3C"/>
                </a:solidFill>
                <a:latin typeface="Georgia"/>
              </a:rPr>
              <a:t>What they refuse to believe now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BOX 4 · THE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One sentence. False belief → your philosophy.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789920" cy="2194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Georgia"/>
              </a:rPr>
              <a:t>“So the question isn’t who’s a little cheaper this year —
it’s whether you want a broker who reacts at renewal,
or one who runs a written plan you can hold them to.”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6A3"/>
                </a:solidFill>
                <a:latin typeface="Georgia"/>
              </a:rPr>
              <a:t>Blueprint: “If someone were going to build a house, would they insist on having a blueprint first? … Have you ever had a blueprint for how your insurance and risk management program was going to be managed?”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BOX 5 · POSITIONING VS.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Georgia"/>
              </a:rPr>
              <a:t>Name 3–5 concrete things the incumbent typically doesn’t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2C3E50"/>
                </a:solidFill>
                <a:latin typeface="Georgia"/>
              </a:rPr>
              <a:t>Price and coverage are controlled by the carrier.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C3E50"/>
                </a:solidFill>
                <a:latin typeface="Georgia"/>
              </a:rPr>
              <a:t>The thing you control is service — broken into named, distinct proactive services.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C3E50"/>
                </a:solidFill>
                <a:latin typeface="Georgia"/>
              </a:rPr>
              <a:t>Each needs: name · who · deliverable · when · result you can measure.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10789920" cy="1828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Georgia"/>
              </a:rPr>
              <a:t>Hot-seat test: If you can’t define and defend it in this room,
you won’t sell it in theirs.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THREE GAMES OF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474720" cy="4754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OLD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Better price.
Better coverage.
Better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96A3"/>
                </a:solidFill>
                <a:latin typeface="Georgia"/>
              </a:rPr>
              <a:t>Get rolled.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1280160"/>
            <a:ext cx="3474720" cy="4754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NEW 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Sell capabilities.
Trademark names.
Beautiful PDFs.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5029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96A3"/>
                </a:solidFill>
                <a:latin typeface="Georgia"/>
              </a:rPr>
              <a:t>Buyer confused.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8" y="1280160"/>
            <a:ext cx="3474720" cy="475488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8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REAL GAME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Named proactive
services with
deliverables.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8" y="5029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Easy to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LIVE HOT SEAT · 10–12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B3C"/>
                </a:solidFill>
                <a:latin typeface="Georgia"/>
              </a:rPr>
              <a:t>2–3 volunteers. Same rhythm as a real sales meeting.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474720" cy="25603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Philosophy in
one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1737360"/>
            <a:ext cx="3474720" cy="25603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DEFEND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6517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False belief →
story → 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8" y="1737360"/>
            <a:ext cx="3474720" cy="25603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8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6B3A"/>
                </a:solidFill>
                <a:latin typeface="Arial"/>
              </a:rPr>
              <a:t>DEVELOP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8" y="26517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3 wedges /
proactive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C3E50"/>
                </a:solidFill>
                <a:latin typeface="Arial"/>
              </a:rPr>
              <a:t>Coach: “Too abstract — give me the deliverable and the date.”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C3E50"/>
                </a:solidFill>
                <a:latin typeface="Arial"/>
              </a:rPr>
              <a:t>“That’s price/coverage — incumbent matches that with one call.”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C3E50"/>
                </a:solidFill>
                <a:latin typeface="Arial"/>
              </a:rPr>
              <a:t>“Would the prospect think: I never looked at it that way. My guy’s not doing that?”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Philosophy → Story → Transition → Concrete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0789920" cy="2194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Georgia"/>
              </a:rPr>
              <a:t>Charge: Before your next sales call, fill the 5 boxes for one named account.
Bring it to your next sales meeting hot seat.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6B3A"/>
                </a:solidFill>
                <a:latin typeface="Georgia"/>
              </a:rPr>
              <a:t>Keep busting the incumbent relationship.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6B3A"/>
                </a:solidFill>
                <a:latin typeface="Arial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B3C"/>
                </a:solidFill>
                <a:latin typeface="Georgia"/>
              </a:rPr>
              <a:t>Your worksheet is the product of this hour.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C3E50"/>
                </a:solidFill>
                <a:latin typeface="Georgia"/>
              </a:rPr>
              <a:t>Walk out with a philosophy, a false-belief story,
and three things the incumbent can’t match.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